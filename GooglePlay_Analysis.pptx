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شروع" id="{B0FB766C-1CFA-2A09-51A2-8AA23A0C7977}">
          <p14:sldIdLst>
            <p14:sldId id="256"/>
          </p14:sldIdLst>
        </p14:section>
        <p14:section name="یافته‌ها" id="{8B9E3E8D-26BC-3340-1398-1BADB12819A9}">
          <p14:sldIdLst>
            <p14:sldId id="257"/>
          </p14:sldIdLst>
        </p14:section>
        <p14:section name="پاک‌سازی" id="{D4054D52-5274-2B37-698F-ED1A4514C3B3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یافته‌ها" id="{3E5788FE-2434-476E-4E7D-D1A2A22BAC85}">
          <p14:sldIdLst/>
        </p14:section>
        <p14:section name="یافته‌ها" id="{EFB931B9-6051-C050-C71E-EA1E88134AC9}">
          <p14:sldIdLst/>
        </p14:section>
        <p14:section name="یافته‌ها" id="{F8D29D89-A26E-1A3F-EF32-F75ABEB2C8D4}">
          <p14:sldIdLst/>
        </p14:section>
        <p14:section name="یافته‌ها" id="{DF2BDEBB-ADD1-E966-E7E8-B0223D4BD713}">
          <p14:sldIdLst/>
        </p14:section>
        <p14:section name="یافته‌ها" id="{04CE8C83-1080-F47F-609B-D04A8955AB1E}">
          <p14:sldIdLst/>
        </p14:section>
        <p14:section name="یافته‌ها" id="{CA1EAEC3-B888-68E2-2219-13F9E15F5054}">
          <p14:sldIdLst/>
        </p14:section>
        <p14:section name="جمع‌بندی" id="{1EE5D9F4-3578-C24A-082E-FF672B6E0742}">
          <p14:sldIdLst>
            <p14:sldId id="265"/>
          </p14:sldIdLst>
        </p14:section>
        <p14:section name="پایان" id="{19FC373A-7948-A6EB-D23B-FA356704D8C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34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2F"/>
                </a:solidFill>
                <a:latin typeface="+mn-lt"/>
              </a:defRPr>
            </a:pPr>
            <a:r>
              <a:rPr lang="fa-IR" sz="1600" b="0" i="0" u="none" strike="noStrike" dirty="0">
                <a:solidFill>
                  <a:srgbClr val="1B2A2F"/>
                </a:solidFill>
                <a:latin typeface="+mn-lt"/>
                <a:cs typeface="B Nazanin" panose="00000400000000000000" pitchFamily="2" charset="-78"/>
              </a:rPr>
              <a:t>میانگین امتیاز (محور از صفر)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میانگین امتیاز</c:v>
                </c:pt>
              </c:strCache>
            </c:strRef>
          </c:tx>
          <c:spPr>
            <a:solidFill>
              <a:srgbClr val="00A87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3F2-4C5E-8B9D-ABD6793F7C44}"/>
              </c:ext>
            </c:extLst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F2-4C5E-8B9D-ABD6793F7C4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B2A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رایگان</c:v>
                </c:pt>
                <c:pt idx="1">
                  <c:v>پولی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4.17</c:v>
                </c:pt>
                <c:pt idx="1">
                  <c:v>4.26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F2-4C5E-8B9D-ABD6793F7C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D5E3E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B2A2F"/>
                </a:solidFill>
                <a:latin typeface="+mn-lt"/>
                <a:ea typeface="+mn-ea"/>
                <a:cs typeface="+mn-cs"/>
              </a:defRPr>
            </a:pPr>
            <a:r>
              <a:rPr lang="fa-IR" sz="1600" b="0" i="0" u="none" strike="noStrike">
                <a:solidFill>
                  <a:srgbClr val="1B2A2F"/>
                </a:solidFill>
                <a:latin typeface="+mn-lt"/>
              </a:rPr>
              <a:t>سهم نظرات کاربران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B2A2F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احساس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182-4C3B-8755-ABC2B4BF6BCE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182-4C3B-8755-ABC2B4BF6BCE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182-4C3B-8755-ABC2B4BF6BCE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82-4C3B-8755-ABC2B4BF6BCE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82-4C3B-8755-ABC2B4BF6BCE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182-4C3B-8755-ABC2B4BF6BC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rgbClr val="000000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مثبت</c:v>
                </c:pt>
                <c:pt idx="1">
                  <c:v>منفی</c:v>
                </c:pt>
                <c:pt idx="2">
                  <c:v>خنثی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182-4C3B-8755-ABC2B4BF6B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1B2A2F"/>
              </a:solidFill>
              <a:latin typeface="+mn-lt"/>
              <a:ea typeface="+mn-ea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31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0"/>
          <p:cNvSpPr/>
          <p:nvPr/>
        </p:nvSpPr>
        <p:spPr>
          <a:xfrm>
            <a:off x="228600" y="914400"/>
            <a:ext cx="3291840" cy="3291840"/>
          </a:xfrm>
          <a:prstGeom prst="ellipse">
            <a:avLst/>
          </a:prstGeom>
          <a:solidFill>
            <a:srgbClr val="00A878">
              <a:alpha val="70000"/>
            </a:srgbClr>
          </a:solidFill>
          <a:ln w="12700">
            <a:solidFill>
              <a:srgbClr val="00A878">
                <a:alpha val="70000"/>
              </a:srgbClr>
            </a:solidFill>
            <a:prstDash val="solid"/>
          </a:ln>
        </p:spPr>
      </p:sp>
      <p:sp>
        <p:nvSpPr>
          <p:cNvPr id="3" name="motif circle 1"/>
          <p:cNvSpPr/>
          <p:nvPr/>
        </p:nvSpPr>
        <p:spPr>
          <a:xfrm>
            <a:off x="2068485" y="3108960"/>
            <a:ext cx="2560320" cy="2560320"/>
          </a:xfrm>
          <a:prstGeom prst="ellipse">
            <a:avLst/>
          </a:prstGeom>
          <a:solidFill>
            <a:srgbClr val="F2A541">
              <a:alpha val="75000"/>
            </a:srgbClr>
          </a:solidFill>
          <a:ln w="12700">
            <a:solidFill>
              <a:srgbClr val="F2A541">
                <a:alpha val="75000"/>
              </a:srgbClr>
            </a:solidFill>
            <a:prstDash val="solid"/>
          </a:ln>
        </p:spPr>
      </p:sp>
      <p:sp>
        <p:nvSpPr>
          <p:cNvPr id="4" name="motif circle 2"/>
          <p:cNvSpPr/>
          <p:nvPr/>
        </p:nvSpPr>
        <p:spPr>
          <a:xfrm>
            <a:off x="822960" y="4206240"/>
            <a:ext cx="2011680" cy="2011680"/>
          </a:xfrm>
          <a:prstGeom prst="ellipse">
            <a:avLst/>
          </a:prstGeom>
          <a:solidFill>
            <a:srgbClr val="E4572E">
              <a:alpha val="70000"/>
            </a:srgbClr>
          </a:solidFill>
          <a:ln w="12700">
            <a:solidFill>
              <a:srgbClr val="E4572E">
                <a:alpha val="70000"/>
              </a:srgbClr>
            </a:solidFill>
            <a:prstDash val="solid"/>
          </a:ln>
        </p:spPr>
      </p:sp>
      <p:sp>
        <p:nvSpPr>
          <p:cNvPr id="5" name="motif circle 3"/>
          <p:cNvSpPr/>
          <p:nvPr/>
        </p:nvSpPr>
        <p:spPr>
          <a:xfrm>
            <a:off x="2960025" y="1014152"/>
            <a:ext cx="1463040" cy="1463040"/>
          </a:xfrm>
          <a:prstGeom prst="ellipse">
            <a:avLst/>
          </a:prstGeom>
          <a:solidFill>
            <a:srgbClr val="7A9CC6">
              <a:alpha val="65000"/>
            </a:srgbClr>
          </a:solidFill>
          <a:ln w="12700">
            <a:solidFill>
              <a:srgbClr val="7A9CC6">
                <a:alpha val="6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10001" y="1920240"/>
            <a:ext cx="8236526" cy="111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 err="1" smtClean="0">
                <a:solidFill>
                  <a:schemeClr val="bg1"/>
                </a:solidFill>
                <a:cs typeface="B Nazanin" panose="00000400000000000000" pitchFamily="2" charset="-78"/>
              </a:rPr>
              <a:t>تحلیل</a:t>
            </a:r>
            <a:r>
              <a:rPr lang="fa-IR" sz="4400" b="1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fa-IR" sz="4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آماری</a:t>
            </a:r>
            <a:r>
              <a:rPr lang="en-US" sz="4400" b="1" dirty="0" smtClean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4400" b="1" dirty="0">
                <a:solidFill>
                  <a:schemeClr val="bg1"/>
                </a:solidFill>
                <a:cs typeface="B Nazanin" panose="00000400000000000000" pitchFamily="2" charset="-78"/>
              </a:rPr>
              <a:t>دیتاست </a:t>
            </a:r>
            <a:r>
              <a:rPr lang="en-US" sz="4400" b="1" dirty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Google Play Store</a:t>
            </a:r>
            <a:endParaRPr lang="en-US" sz="44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287983" y="4160520"/>
            <a:ext cx="7529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000" dirty="0" err="1">
                <a:solidFill>
                  <a:srgbClr val="CFE3DF"/>
                </a:solidFill>
                <a:cs typeface="B Nazanin" panose="00000400000000000000" pitchFamily="2" charset="-78"/>
              </a:rPr>
              <a:t>بررسی</a:t>
            </a:r>
            <a:r>
              <a:rPr lang="en-US" sz="2000" dirty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rgbClr val="CFE3DF"/>
                </a:solidFill>
                <a:cs typeface="B Nazanin" panose="00000400000000000000" pitchFamily="2" charset="-78"/>
              </a:rPr>
              <a:t>۹٬۶۵۹</a:t>
            </a:r>
            <a:r>
              <a:rPr lang="fa-IR" sz="2000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err="1">
                <a:solidFill>
                  <a:srgbClr val="CFE3DF"/>
                </a:solidFill>
                <a:cs typeface="B Nazanin" panose="00000400000000000000" pitchFamily="2" charset="-78"/>
              </a:rPr>
              <a:t>اپلیکیشن</a:t>
            </a:r>
            <a:r>
              <a:rPr lang="en-US" sz="2000" dirty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rgbClr val="CFE3DF"/>
                </a:solidFill>
                <a:cs typeface="B Nazanin" panose="00000400000000000000" pitchFamily="2" charset="-78"/>
              </a:rPr>
              <a:t>و </a:t>
            </a:r>
            <a:r>
              <a:rPr lang="en-US" sz="2000" dirty="0">
                <a:solidFill>
                  <a:srgbClr val="CFE3DF"/>
                </a:solidFill>
                <a:cs typeface="B Nazanin" panose="00000400000000000000" pitchFamily="2" charset="-78"/>
              </a:rPr>
              <a:t>نظرات کاربران </a:t>
            </a:r>
            <a:r>
              <a:rPr lang="en-US" sz="2000" dirty="0" err="1">
                <a:solidFill>
                  <a:srgbClr val="CFE3DF"/>
                </a:solidFill>
                <a:cs typeface="B Nazanin" panose="00000400000000000000" pitchFamily="2" charset="-78"/>
              </a:rPr>
              <a:t>با</a:t>
            </a:r>
            <a:r>
              <a:rPr lang="en-US" sz="2000" dirty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rgbClr val="CFE3DF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python</a:t>
            </a:r>
            <a:endParaRPr lang="en-US" sz="20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  <a:cs typeface="B Nazanin" panose="00000400000000000000" pitchFamily="2" charset="-78"/>
              </a:rPr>
              <a:t>خلاصه‌ی یافته‌ها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3" name="stat card"/>
          <p:cNvSpPr/>
          <p:nvPr/>
        </p:nvSpPr>
        <p:spPr>
          <a:xfrm>
            <a:off x="905256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"/>
          <p:cNvSpPr txBox="1"/>
          <p:nvPr/>
        </p:nvSpPr>
        <p:spPr>
          <a:xfrm>
            <a:off x="9235440" y="1828800"/>
            <a:ext cx="21945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00A878"/>
                </a:solidFill>
                <a:cs typeface="B Nazanin" panose="00000400000000000000" pitchFamily="2" charset="-78"/>
              </a:rPr>
              <a:t>۹٬۶۵۹</a:t>
            </a:r>
            <a:endParaRPr lang="en-US" sz="4400" dirty="0">
              <a:cs typeface="B Nazanin" panose="00000400000000000000" pitchFamily="2" charset="-78"/>
            </a:endParaRPr>
          </a:p>
        </p:txBody>
      </p:sp>
      <p:sp>
        <p:nvSpPr>
          <p:cNvPr id="5" name="stat label"/>
          <p:cNvSpPr txBox="1"/>
          <p:nvPr/>
        </p:nvSpPr>
        <p:spPr>
          <a:xfrm>
            <a:off x="9109364" y="2834640"/>
            <a:ext cx="2503516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اپلیکیشن یکتا پس از پاک‌سازی</a:t>
            </a:r>
            <a:endParaRPr lang="en-US" sz="2000" dirty="0">
              <a:cs typeface="B Nazanin" panose="00000400000000000000" pitchFamily="2" charset="-78"/>
            </a:endParaRPr>
          </a:p>
        </p:txBody>
      </p:sp>
      <p:sp>
        <p:nvSpPr>
          <p:cNvPr id="6" name="stat card"/>
          <p:cNvSpPr/>
          <p:nvPr/>
        </p:nvSpPr>
        <p:spPr>
          <a:xfrm>
            <a:off x="621792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"/>
          <p:cNvSpPr txBox="1"/>
          <p:nvPr/>
        </p:nvSpPr>
        <p:spPr>
          <a:xfrm>
            <a:off x="6400800" y="1828800"/>
            <a:ext cx="21945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F2A541"/>
                </a:solidFill>
              </a:rPr>
              <a:t>۴٫۱۷</a:t>
            </a:r>
            <a:endParaRPr lang="en-US" sz="4400" dirty="0"/>
          </a:p>
        </p:txBody>
      </p:sp>
      <p:sp>
        <p:nvSpPr>
          <p:cNvPr id="8" name="stat label"/>
          <p:cNvSpPr txBox="1"/>
          <p:nvPr/>
        </p:nvSpPr>
        <p:spPr>
          <a:xfrm>
            <a:off x="6446520" y="2834640"/>
            <a:ext cx="2103120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میانگین </a:t>
            </a:r>
            <a:r>
              <a:rPr lang="en-US" sz="2000" dirty="0" err="1">
                <a:solidFill>
                  <a:schemeClr val="tx1"/>
                </a:solidFill>
                <a:cs typeface="B Nazanin" panose="00000400000000000000" pitchFamily="2" charset="-78"/>
              </a:rPr>
              <a:t>امتیاز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میانه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۴٫۳۰</a:t>
            </a:r>
            <a:endParaRPr lang="en-US" sz="2000" dirty="0">
              <a:cs typeface="B Nazanin" panose="00000400000000000000" pitchFamily="2" charset="-78"/>
            </a:endParaRPr>
          </a:p>
        </p:txBody>
      </p:sp>
      <p:sp>
        <p:nvSpPr>
          <p:cNvPr id="9" name="stat card"/>
          <p:cNvSpPr/>
          <p:nvPr/>
        </p:nvSpPr>
        <p:spPr>
          <a:xfrm>
            <a:off x="338328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"/>
          <p:cNvSpPr txBox="1"/>
          <p:nvPr/>
        </p:nvSpPr>
        <p:spPr>
          <a:xfrm>
            <a:off x="3566160" y="1828800"/>
            <a:ext cx="21945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E4572E"/>
                </a:solidFill>
              </a:rPr>
              <a:t>۹۲٫۲٪</a:t>
            </a:r>
            <a:endParaRPr lang="en-US" sz="4400" dirty="0"/>
          </a:p>
        </p:txBody>
      </p:sp>
      <p:sp>
        <p:nvSpPr>
          <p:cNvPr id="11" name="stat label"/>
          <p:cNvSpPr txBox="1"/>
          <p:nvPr/>
        </p:nvSpPr>
        <p:spPr>
          <a:xfrm>
            <a:off x="3611880" y="2834640"/>
            <a:ext cx="2103120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2000" dirty="0">
                <a:solidFill>
                  <a:schemeClr val="tx1"/>
                </a:solidFill>
              </a:rPr>
              <a:t>اپ‌ها رایگان‌اند</a:t>
            </a:r>
            <a:endParaRPr lang="en-US" sz="2000" dirty="0"/>
          </a:p>
        </p:txBody>
      </p:sp>
      <p:sp>
        <p:nvSpPr>
          <p:cNvPr id="12" name="stat card"/>
          <p:cNvSpPr/>
          <p:nvPr/>
        </p:nvSpPr>
        <p:spPr>
          <a:xfrm>
            <a:off x="54864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"/>
          <p:cNvSpPr txBox="1"/>
          <p:nvPr/>
        </p:nvSpPr>
        <p:spPr>
          <a:xfrm>
            <a:off x="731520" y="1828800"/>
            <a:ext cx="21945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0B3C49"/>
                </a:solidFill>
              </a:rPr>
              <a:t>۶۴٪</a:t>
            </a:r>
            <a:endParaRPr lang="en-US" sz="4400" dirty="0"/>
          </a:p>
        </p:txBody>
      </p:sp>
      <p:sp>
        <p:nvSpPr>
          <p:cNvPr id="14" name="stat label"/>
          <p:cNvSpPr txBox="1"/>
          <p:nvPr/>
        </p:nvSpPr>
        <p:spPr>
          <a:xfrm>
            <a:off x="777240" y="2834640"/>
            <a:ext cx="2103120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نظرات کاربران مثبت است</a:t>
            </a:r>
            <a:endParaRPr lang="en-US" sz="2000" dirty="0">
              <a:cs typeface="B Nazanin" panose="00000400000000000000" pitchFamily="2" charset="-78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107982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بازار گوگل پلی </a:t>
            </a:r>
            <a:r>
              <a:rPr lang="en-US" sz="24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به</a:t>
            </a:r>
            <a:r>
              <a:rPr lang="en-US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‌</a:t>
            </a:r>
            <a:r>
              <a:rPr lang="en-US" sz="24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شدت</a:t>
            </a:r>
            <a:r>
              <a:rPr lang="en-US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B Nazanin" panose="00000400000000000000" pitchFamily="2" charset="-78"/>
              </a:rPr>
              <a:t>رایگان‌محور است. امتیازها بالا و چوله به چپ‌اند و </a:t>
            </a:r>
            <a:r>
              <a:rPr lang="en-US" sz="2400" dirty="0" err="1">
                <a:solidFill>
                  <a:schemeClr val="tx1"/>
                </a:solidFill>
                <a:cs typeface="B Nazanin" panose="00000400000000000000" pitchFamily="2" charset="-78"/>
              </a:rPr>
              <a:t>تفاوت</a:t>
            </a:r>
            <a:r>
              <a:rPr lang="en-US" sz="24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اپ</a:t>
            </a:r>
            <a:r>
              <a:rPr lang="fa-IR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‌</a:t>
            </a:r>
            <a:r>
              <a:rPr lang="en-US" sz="24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های</a:t>
            </a:r>
            <a:r>
              <a:rPr lang="en-US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B Nazanin" panose="00000400000000000000" pitchFamily="2" charset="-78"/>
              </a:rPr>
              <a:t>پولی و رایگان در امتیاز کوچک، ولی در تعداد نصب بزرگ است.</a:t>
            </a:r>
            <a:endParaRPr lang="en-US" sz="2400" dirty="0">
              <a:cs typeface="B Nazanin" panose="00000400000000000000" pitchFamily="2" charset="-78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chemeClr val="tx2"/>
                </a:solidFill>
                <a:cs typeface="B Nazanin" panose="00000400000000000000" pitchFamily="2" charset="-78"/>
              </a:rPr>
              <a:t>پاک‌سازی داده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3" name="step card"/>
          <p:cNvSpPr/>
          <p:nvPr/>
        </p:nvSpPr>
        <p:spPr>
          <a:xfrm>
            <a:off x="8138160" y="1645920"/>
            <a:ext cx="34747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badge"/>
          <p:cNvSpPr/>
          <p:nvPr/>
        </p:nvSpPr>
        <p:spPr>
          <a:xfrm>
            <a:off x="1078992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chemeClr val="bg1"/>
                </a:solidFill>
              </a:rPr>
              <a:t>۱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3667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chemeClr val="tx2"/>
                </a:solidFill>
                <a:cs typeface="B Nazanin" panose="00000400000000000000" pitchFamily="2" charset="-78"/>
              </a:rPr>
              <a:t>حذف ردیف خراب</a:t>
            </a:r>
            <a:endParaRPr lang="en-US" sz="2200" dirty="0">
              <a:cs typeface="B Nazanin" panose="00000400000000000000" pitchFamily="2" charset="-78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366760" y="32461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chemeClr val="tx1"/>
                </a:solidFill>
              </a:rPr>
              <a:t>ردیفی </a:t>
            </a:r>
            <a:r>
              <a:rPr lang="en-US" sz="1600" dirty="0" err="1">
                <a:solidFill>
                  <a:schemeClr val="tx1"/>
                </a:solidFill>
              </a:rPr>
              <a:t>با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fa-IR" sz="1600" dirty="0" smtClean="0">
                <a:solidFill>
                  <a:schemeClr val="tx1"/>
                </a:solidFill>
              </a:rPr>
              <a:t>ستون </a:t>
            </a:r>
            <a:r>
              <a:rPr lang="en-US" sz="1600" dirty="0" smtClean="0">
                <a:solidFill>
                  <a:schemeClr val="tx1"/>
                </a:solidFill>
              </a:rPr>
              <a:t>Category</a:t>
            </a:r>
            <a:r>
              <a:rPr lang="fa-IR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smtClean="0">
                <a:solidFill>
                  <a:schemeClr val="tx1"/>
                </a:solidFill>
              </a:rPr>
              <a:t> برابر1.9</a:t>
            </a:r>
            <a:r>
              <a:rPr lang="fa-IR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که ستون‌هایش جابه‌جا شده بود حذف شد.</a:t>
            </a:r>
            <a:endParaRPr lang="en-US" sz="1600" dirty="0"/>
          </a:p>
        </p:txBody>
      </p:sp>
      <p:sp>
        <p:nvSpPr>
          <p:cNvPr id="8" name="step card"/>
          <p:cNvSpPr/>
          <p:nvPr/>
        </p:nvSpPr>
        <p:spPr>
          <a:xfrm>
            <a:off x="4343400" y="1645920"/>
            <a:ext cx="34747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badge"/>
          <p:cNvSpPr/>
          <p:nvPr/>
        </p:nvSpPr>
        <p:spPr>
          <a:xfrm>
            <a:off x="699516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chemeClr val="bg1"/>
                </a:solidFill>
              </a:rPr>
              <a:t>۲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chemeClr val="tx2"/>
                </a:solidFill>
                <a:cs typeface="B Nazanin" panose="00000400000000000000" pitchFamily="2" charset="-78"/>
              </a:rPr>
              <a:t>حذف تکراری‌ها</a:t>
            </a:r>
            <a:endParaRPr lang="en-US" sz="2200" dirty="0">
              <a:cs typeface="B Nazanin" panose="00000400000000000000" pitchFamily="2" charset="-78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>
                <a:solidFill>
                  <a:schemeClr val="tx1"/>
                </a:solidFill>
              </a:rPr>
              <a:t>۱٬۱۸۱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 اپ تکراری حذف </a:t>
            </a:r>
            <a:r>
              <a:rPr lang="en-US" sz="1600" dirty="0" err="1">
                <a:solidFill>
                  <a:schemeClr val="tx1"/>
                </a:solidFill>
                <a:cs typeface="B Nazanin" panose="00000400000000000000" pitchFamily="2" charset="-78"/>
              </a:rPr>
              <a:t>شد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و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۹٬۶۵۹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اپ یکتا ماند. ردیف با </a:t>
            </a:r>
            <a:r>
              <a:rPr lang="en-US" sz="1600" dirty="0" err="1">
                <a:solidFill>
                  <a:schemeClr val="tx1"/>
                </a:solidFill>
                <a:cs typeface="B Nazanin" panose="00000400000000000000" pitchFamily="2" charset="-78"/>
              </a:rPr>
              <a:t>بیشترین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Reviews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نگه داشته شد.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13" name="step card"/>
          <p:cNvSpPr/>
          <p:nvPr/>
        </p:nvSpPr>
        <p:spPr>
          <a:xfrm>
            <a:off x="548640" y="1645920"/>
            <a:ext cx="34747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badge"/>
          <p:cNvSpPr/>
          <p:nvPr/>
        </p:nvSpPr>
        <p:spPr>
          <a:xfrm>
            <a:off x="320040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chemeClr val="bg1"/>
                </a:solidFill>
              </a:rPr>
              <a:t>۳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chemeClr val="tx2"/>
                </a:solidFill>
                <a:cs typeface="B Nazanin" panose="00000400000000000000" pitchFamily="2" charset="-78"/>
              </a:rPr>
              <a:t>تبدیل به عدد</a:t>
            </a:r>
            <a:endParaRPr lang="en-US" sz="2200" dirty="0">
              <a:cs typeface="B Nazanin" panose="00000400000000000000" pitchFamily="2" charset="-78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77240" y="32461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ستون های </a:t>
            </a:r>
            <a:r>
              <a:rPr lang="en-US" sz="1600" dirty="0" err="1" smtClean="0">
                <a:cs typeface="B Nazanin" panose="00000400000000000000" pitchFamily="2" charset="-78"/>
              </a:rPr>
              <a:t>Installs,Price</a:t>
            </a:r>
            <a:r>
              <a:rPr lang="en-US" sz="1600" dirty="0" smtClean="0">
                <a:cs typeface="B Nazanin" panose="00000400000000000000" pitchFamily="2" charset="-78"/>
              </a:rPr>
              <a:t>, Size </a:t>
            </a:r>
            <a:r>
              <a:rPr lang="fa-IR" sz="1600" dirty="0" smtClean="0">
                <a:cs typeface="B Nazanin" panose="00000400000000000000" pitchFamily="2" charset="-78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عددی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شدن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د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«+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10,000».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تبدیل شد به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۱۰۰۰۰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و 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«$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4.99» 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تبدیل شد به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۴٫۹۹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*</a:t>
            </a:r>
            <a:r>
              <a:rPr lang="en-US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مقادیر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خالی: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ستون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Size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در۱٬۲۲۸ </a:t>
            </a:r>
            <a:r>
              <a:rPr lang="en-US" dirty="0" err="1">
                <a:solidFill>
                  <a:schemeClr val="tx1"/>
                </a:solidFill>
                <a:cs typeface="B Nazanin" panose="00000400000000000000" pitchFamily="2" charset="-78"/>
              </a:rPr>
              <a:t>مورد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(«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Varies with device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»)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و </a:t>
            </a:r>
            <a:r>
              <a:rPr lang="en-US" dirty="0" err="1">
                <a:solidFill>
                  <a:schemeClr val="tx1"/>
                </a:solidFill>
                <a:cs typeface="B Nazanin" panose="00000400000000000000" pitchFamily="2" charset="-78"/>
              </a:rPr>
              <a:t>ستون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Rating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B Nazanin" panose="00000400000000000000" pitchFamily="2" charset="-78"/>
              </a:rPr>
              <a:t>در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۱٬۴۶۳</a:t>
            </a: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مورد.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  <a:cs typeface="B Nazanin" panose="00000400000000000000" pitchFamily="2" charset="-78"/>
              </a:rPr>
              <a:t>توزیع امتیازها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pic>
        <p:nvPicPr>
          <p:cNvPr id="3" name="rating histogram" descr="هیستوگرام امتیاز اپ‌ها با میانگین ۴٫۱۷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85216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164592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میانگین ۴٫۱۷ و میانه ۴٫۳۰ است؛ میانگین پایین‌تر از میانه می‌ماند.</a:t>
            </a:r>
            <a:endParaRPr lang="en-US" sz="20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توزیع چوله به چپ </a:t>
            </a:r>
            <a:r>
              <a:rPr lang="en-US" sz="2000" dirty="0" err="1">
                <a:solidFill>
                  <a:schemeClr val="tx1"/>
                </a:solidFill>
                <a:cs typeface="B Nazanin" panose="00000400000000000000" pitchFamily="2" charset="-78"/>
              </a:rPr>
              <a:t>است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: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اپ‌های ضعیف میانگین را پایین می‌کشند.</a:t>
            </a:r>
            <a:endParaRPr lang="en-US" sz="20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قله‌ی اصلی در بازه‌ی ۴٫۲ تا ۴٫۸ است و اپ‌های زیر ۳ بسیار اندک‌اند.</a:t>
            </a:r>
            <a:endParaRPr lang="en-US" sz="20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chemeClr val="tx1"/>
                </a:solidFill>
                <a:cs typeface="B Nazanin" panose="00000400000000000000" pitchFamily="2" charset="-78"/>
              </a:rPr>
              <a:t>ستون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۵٫۰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احتمالاً از اپ‌های با نظر کم می‌آید و نشانه‌ی کیفیت نیست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سهم دسته‌ها</a:t>
            </a:r>
            <a:endParaRPr lang="en-US" sz="3600" dirty="0"/>
          </a:p>
        </p:txBody>
      </p:sp>
      <p:pic>
        <p:nvPicPr>
          <p:cNvPr id="3" name="categories chart" descr="۱۰ دسته‌ی پرتعدا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85216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70469" y="1735974"/>
            <a:ext cx="502365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Family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با بیش از ۱۸۰۰ اپ با فاصله‌ی زیاد اول است؛ حدود دو </a:t>
            </a:r>
            <a:r>
              <a:rPr lang="en-US" sz="2000" dirty="0" err="1">
                <a:solidFill>
                  <a:schemeClr val="tx1"/>
                </a:solidFill>
                <a:cs typeface="B Nazanin" panose="00000400000000000000" pitchFamily="2" charset="-78"/>
              </a:rPr>
              <a:t>برابر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Gam</a:t>
            </a:r>
            <a:r>
              <a:rPr lang="en-US" sz="2000" dirty="0" smtClean="0">
                <a:cs typeface="B Nazanin" panose="00000400000000000000" pitchFamily="2" charset="-78"/>
              </a:rPr>
              <a:t>e</a:t>
            </a:r>
            <a:endParaRPr lang="en-US" sz="20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Game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و 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Tools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در رتبه‌های بعدی‌اند.</a:t>
            </a:r>
            <a:endParaRPr lang="en-US" sz="2000" dirty="0">
              <a:cs typeface="B Nazanin" panose="00000400000000000000" pitchFamily="2" charset="-78"/>
            </a:endParaRPr>
          </a:p>
          <a:p>
            <a:pPr marL="285750" indent="-285750" algn="r" rtl="1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از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رتبه‌ی چهارم به بعد تعداد </a:t>
            </a:r>
            <a:r>
              <a:rPr lang="en-US" sz="2000" dirty="0" err="1">
                <a:solidFill>
                  <a:schemeClr val="tx1"/>
                </a:solidFill>
                <a:cs typeface="B Nazanin" panose="00000400000000000000" pitchFamily="2" charset="-78"/>
              </a:rPr>
              <a:t>اپ‌ها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نزدیک۳۰۰   </a:t>
            </a:r>
            <a:r>
              <a:rPr lang="fa-IR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تا</a:t>
            </a:r>
            <a:r>
              <a:rPr lang="en-US" sz="2000" dirty="0" smtClean="0">
                <a:solidFill>
                  <a:schemeClr val="tx1"/>
                </a:solidFill>
                <a:cs typeface="B Nazanin" panose="00000400000000000000" pitchFamily="2" charset="-78"/>
              </a:rPr>
              <a:t>۴۲۰ </a:t>
            </a: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است.</a:t>
            </a:r>
            <a:endParaRPr lang="en-US" sz="20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تعداد زیاد یعنی رقابت بیشتر، نه لزوماً تقاضای بیشتر.</a:t>
            </a:r>
            <a:endParaRPr lang="en-US" sz="2000" dirty="0">
              <a:cs typeface="B Nazanin" panose="00000400000000000000" pitchFamily="2" charset="-78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 err="1" smtClean="0">
                <a:solidFill>
                  <a:schemeClr val="tx2"/>
                </a:solidFill>
                <a:cs typeface="B Nazanin" panose="00000400000000000000" pitchFamily="2" charset="-78"/>
              </a:rPr>
              <a:t>اپ</a:t>
            </a:r>
            <a:r>
              <a:rPr lang="en-US" sz="3600" b="1" dirty="0" smtClean="0">
                <a:solidFill>
                  <a:schemeClr val="tx2"/>
                </a:solidFill>
                <a:cs typeface="B Nazanin" panose="00000400000000000000" pitchFamily="2" charset="-78"/>
              </a:rPr>
              <a:t>‌</a:t>
            </a:r>
            <a:r>
              <a:rPr lang="fa-IR" sz="3600" b="1" dirty="0" smtClean="0">
                <a:solidFill>
                  <a:schemeClr val="tx2"/>
                </a:solidFill>
                <a:cs typeface="B Nazanin" panose="00000400000000000000" pitchFamily="2" charset="-78"/>
              </a:rPr>
              <a:t> </a:t>
            </a:r>
            <a:r>
              <a:rPr lang="en-US" sz="3600" b="1" dirty="0" err="1" smtClean="0">
                <a:solidFill>
                  <a:schemeClr val="tx2"/>
                </a:solidFill>
                <a:cs typeface="B Nazanin" panose="00000400000000000000" pitchFamily="2" charset="-78"/>
              </a:rPr>
              <a:t>های</a:t>
            </a:r>
            <a:r>
              <a:rPr lang="en-US" sz="3600" b="1" dirty="0" smtClean="0">
                <a:solidFill>
                  <a:schemeClr val="tx2"/>
                </a:solidFill>
                <a:cs typeface="B Nazanin" panose="00000400000000000000" pitchFamily="2" charset="-78"/>
              </a:rPr>
              <a:t> </a:t>
            </a:r>
            <a:r>
              <a:rPr lang="en-US" sz="3600" b="1" dirty="0">
                <a:solidFill>
                  <a:schemeClr val="tx2"/>
                </a:solidFill>
                <a:cs typeface="B Nazanin" panose="00000400000000000000" pitchFamily="2" charset="-78"/>
              </a:rPr>
              <a:t>پرتعامل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8104908" y="1418102"/>
            <a:ext cx="3962399" cy="498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چهار اپ اول </a:t>
            </a:r>
            <a:r>
              <a:rPr lang="en-US" dirty="0" err="1">
                <a:solidFill>
                  <a:schemeClr val="tx1"/>
                </a:solidFill>
              </a:rPr>
              <a:t>همگی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از</a:t>
            </a:r>
            <a:r>
              <a:rPr lang="en-US" dirty="0"/>
              <a:t> </a:t>
            </a:r>
            <a:r>
              <a:rPr lang="en-US" dirty="0" smtClean="0">
                <a:solidFill>
                  <a:schemeClr val="tx1"/>
                </a:solidFill>
              </a:rPr>
              <a:t>                </a:t>
            </a:r>
            <a:r>
              <a:rPr lang="fa-IR" dirty="0" smtClean="0">
                <a:solidFill>
                  <a:schemeClr val="tx1"/>
                </a:solidFill>
              </a:rPr>
              <a:t>هستند</a:t>
            </a:r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             </a:t>
            </a:r>
            <a:r>
              <a:rPr lang="en-US" dirty="0" err="1" smtClean="0">
                <a:solidFill>
                  <a:schemeClr val="tx1"/>
                </a:solidFill>
              </a:rPr>
              <a:t>با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حدود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۷۸</a:t>
            </a:r>
            <a:r>
              <a:rPr lang="fa-IR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میلیون نظر پیشتاز است.</a:t>
            </a:r>
            <a:endParaRPr lang="en-US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ترکیب لیست: شبکه‌های اجتماعی، بازی و ابزارهای پاک‌سازی.</a:t>
            </a:r>
            <a:endParaRPr lang="en-US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                   </a:t>
            </a:r>
            <a:r>
              <a:rPr lang="en-US" dirty="0" err="1" smtClean="0">
                <a:solidFill>
                  <a:schemeClr val="tx1"/>
                </a:solidFill>
              </a:rPr>
              <a:t>با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وجود محبوبیت، پایین‌تر است؛ تعداد نظر برابر تعداد استفاده نیست.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6" name="AutoShape 2" descr="لوگو متا – لوگویاب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لوگو متا – لوگویاب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لوگو متا – لوگویاب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39" y="1234440"/>
            <a:ext cx="1045632" cy="6452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692" y="1702812"/>
            <a:ext cx="909238" cy="4584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5650" y="3200399"/>
            <a:ext cx="1167461" cy="26007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253856"/>
            <a:ext cx="7824643" cy="60534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  <a:cs typeface="B Nazanin" panose="00000400000000000000" pitchFamily="2" charset="-78"/>
              </a:rPr>
              <a:t>رایگان یا پولی؟</a:t>
            </a:r>
            <a:endParaRPr lang="en-US" sz="3600" dirty="0">
              <a:cs typeface="B Nazanin" panose="00000400000000000000" pitchFamily="2" charset="-78"/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439509423"/>
              </p:ext>
            </p:extLst>
          </p:nvPr>
        </p:nvGraphicFramePr>
        <p:xfrm>
          <a:off x="548640" y="1463040"/>
          <a:ext cx="56692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 card"/>
          <p:cNvSpPr/>
          <p:nvPr/>
        </p:nvSpPr>
        <p:spPr>
          <a:xfrm>
            <a:off x="6583680" y="1554480"/>
            <a:ext cx="2423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value"/>
          <p:cNvSpPr txBox="1"/>
          <p:nvPr/>
        </p:nvSpPr>
        <p:spPr>
          <a:xfrm>
            <a:off x="6766560" y="1737360"/>
            <a:ext cx="2057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۴٫۲۶</a:t>
            </a:r>
            <a:r>
              <a:rPr lang="fa-IR" sz="2000" b="1" dirty="0" smtClean="0">
                <a:solidFill>
                  <a:schemeClr val="accent1"/>
                </a:solidFill>
              </a:rPr>
              <a:t> </a:t>
            </a:r>
            <a:r>
              <a:rPr lang="en-US" sz="2000" b="1" dirty="0" smtClean="0">
                <a:solidFill>
                  <a:schemeClr val="accent1"/>
                </a:solidFill>
              </a:rPr>
              <a:t> </a:t>
            </a:r>
            <a:r>
              <a:rPr lang="en-US" sz="2000" b="1" dirty="0">
                <a:solidFill>
                  <a:schemeClr val="accent1"/>
                </a:solidFill>
              </a:rPr>
              <a:t>به ۴٫۱۷</a:t>
            </a:r>
            <a:endParaRPr lang="en-US" sz="2000" dirty="0"/>
          </a:p>
        </p:txBody>
      </p:sp>
      <p:sp>
        <p:nvSpPr>
          <p:cNvPr id="6" name="stat label"/>
          <p:cNvSpPr txBox="1"/>
          <p:nvPr/>
        </p:nvSpPr>
        <p:spPr>
          <a:xfrm>
            <a:off x="6812280" y="2560320"/>
            <a:ext cx="196596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chemeClr val="tx1"/>
                </a:solidFill>
              </a:rPr>
              <a:t>امتیاز پولی در برابر رایگان</a:t>
            </a:r>
            <a:endParaRPr lang="en-US" sz="1600" dirty="0"/>
          </a:p>
        </p:txBody>
      </p:sp>
      <p:sp>
        <p:nvSpPr>
          <p:cNvPr id="7" name="stat card"/>
          <p:cNvSpPr/>
          <p:nvPr/>
        </p:nvSpPr>
        <p:spPr>
          <a:xfrm>
            <a:off x="9189720" y="1554480"/>
            <a:ext cx="2423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value"/>
          <p:cNvSpPr txBox="1"/>
          <p:nvPr/>
        </p:nvSpPr>
        <p:spPr>
          <a:xfrm>
            <a:off x="9372600" y="1737360"/>
            <a:ext cx="2057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00" b="1" dirty="0" smtClean="0">
                <a:solidFill>
                  <a:schemeClr val="accent3"/>
                </a:solidFill>
              </a:rPr>
              <a:t>۱٬۰۰۰</a:t>
            </a:r>
            <a:r>
              <a:rPr lang="fa-IR" sz="2000" b="1" dirty="0" smtClean="0">
                <a:solidFill>
                  <a:schemeClr val="accent3"/>
                </a:solidFill>
              </a:rPr>
              <a:t> </a:t>
            </a:r>
            <a:r>
              <a:rPr lang="en-US" sz="2000" b="1" dirty="0" smtClean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chemeClr val="accent3"/>
                </a:solidFill>
              </a:rPr>
              <a:t>به ۱۰۰٬۰۰۰</a:t>
            </a:r>
            <a:endParaRPr lang="en-US" sz="2000" dirty="0"/>
          </a:p>
        </p:txBody>
      </p:sp>
      <p:sp>
        <p:nvSpPr>
          <p:cNvPr id="9" name="stat label"/>
          <p:cNvSpPr txBox="1"/>
          <p:nvPr/>
        </p:nvSpPr>
        <p:spPr>
          <a:xfrm>
            <a:off x="9235440" y="2560320"/>
            <a:ext cx="2377439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chemeClr val="tx1"/>
                </a:solidFill>
              </a:rPr>
              <a:t>میانه‌ی نصب پولی در برابر رایگان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8404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2000" dirty="0">
                <a:solidFill>
                  <a:schemeClr val="tx1"/>
                </a:solidFill>
                <a:cs typeface="B Nazanin" panose="00000400000000000000" pitchFamily="2" charset="-78"/>
              </a:rPr>
              <a:t>اختلاف امتیاز کمتر از ۰٫۱ نمره است، اما اپ‌های پولی در نصب بسیار کم‌تر دیده می‌شوند. اختلاف امتیاز هنوز با آزمون آماری تأیید نشده است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الگوهای دیگر</a:t>
            </a:r>
            <a:endParaRPr lang="en-US" sz="3600" dirty="0"/>
          </a:p>
        </p:txBody>
      </p:sp>
      <p:sp>
        <p:nvSpPr>
          <p:cNvPr id="3" name="stat card"/>
          <p:cNvSpPr/>
          <p:nvPr/>
        </p:nvSpPr>
        <p:spPr>
          <a:xfrm>
            <a:off x="8138160" y="1554480"/>
            <a:ext cx="3474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"/>
          <p:cNvSpPr txBox="1"/>
          <p:nvPr/>
        </p:nvSpPr>
        <p:spPr>
          <a:xfrm>
            <a:off x="8321040" y="173736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00A878"/>
                </a:solidFill>
              </a:rPr>
              <a:t>۴٫۴۴</a:t>
            </a:r>
            <a:endParaRPr lang="en-US" sz="4000" dirty="0"/>
          </a:p>
        </p:txBody>
      </p:sp>
      <p:sp>
        <p:nvSpPr>
          <p:cNvPr id="5" name="stat label"/>
          <p:cNvSpPr txBox="1"/>
          <p:nvPr/>
        </p:nvSpPr>
        <p:spPr>
          <a:xfrm>
            <a:off x="8366760" y="2651760"/>
            <a:ext cx="301752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Events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: 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بالاترین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امتیاز میان دسته‌های با حداقل ۵۰ اپ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6" name="stat card"/>
          <p:cNvSpPr/>
          <p:nvPr/>
        </p:nvSpPr>
        <p:spPr>
          <a:xfrm>
            <a:off x="4343400" y="1554480"/>
            <a:ext cx="3474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"/>
          <p:cNvSpPr txBox="1"/>
          <p:nvPr/>
        </p:nvSpPr>
        <p:spPr>
          <a:xfrm>
            <a:off x="4526280" y="173736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E4572E"/>
                </a:solidFill>
              </a:rPr>
              <a:t>۳٫۹۸</a:t>
            </a:r>
            <a:endParaRPr lang="en-US" sz="4000" dirty="0"/>
          </a:p>
        </p:txBody>
      </p:sp>
      <p:sp>
        <p:nvSpPr>
          <p:cNvPr id="8" name="stat label"/>
          <p:cNvSpPr txBox="1"/>
          <p:nvPr/>
        </p:nvSpPr>
        <p:spPr>
          <a:xfrm>
            <a:off x="4572000" y="2651760"/>
            <a:ext cx="301752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Dating</a:t>
            </a: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پایین‌ترین</a:t>
            </a:r>
            <a:r>
              <a:rPr lang="en-US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امتیاز در همان دسته‌ها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9" name="stat card"/>
          <p:cNvSpPr/>
          <p:nvPr/>
        </p:nvSpPr>
        <p:spPr>
          <a:xfrm>
            <a:off x="548640" y="1554480"/>
            <a:ext cx="3474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"/>
          <p:cNvSpPr txBox="1"/>
          <p:nvPr/>
        </p:nvSpPr>
        <p:spPr>
          <a:xfrm>
            <a:off x="731520" y="173736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5B8E7D"/>
                </a:solidFill>
              </a:rPr>
              <a:t>۰٫۰۶</a:t>
            </a:r>
            <a:endParaRPr lang="en-US" sz="4000" dirty="0"/>
          </a:p>
        </p:txBody>
      </p:sp>
      <p:sp>
        <p:nvSpPr>
          <p:cNvPr id="11" name="stat label"/>
          <p:cNvSpPr txBox="1"/>
          <p:nvPr/>
        </p:nvSpPr>
        <p:spPr>
          <a:xfrm>
            <a:off x="777240" y="2651760"/>
            <a:ext cx="301752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400" dirty="0">
                <a:solidFill>
                  <a:schemeClr val="tx1"/>
                </a:solidFill>
              </a:rPr>
              <a:t>همبستگی </a:t>
            </a:r>
            <a:r>
              <a:rPr lang="en-US" sz="1400" dirty="0" err="1">
                <a:solidFill>
                  <a:schemeClr val="tx1"/>
                </a:solidFill>
              </a:rPr>
              <a:t>حجم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</a:rPr>
              <a:t>اپ</a:t>
            </a:r>
            <a:endParaRPr lang="en-US" sz="1400" dirty="0"/>
          </a:p>
        </p:txBody>
      </p:sp>
      <p:sp>
        <p:nvSpPr>
          <p:cNvPr id="12" name="stat card"/>
          <p:cNvSpPr/>
          <p:nvPr/>
        </p:nvSpPr>
        <p:spPr>
          <a:xfrm>
            <a:off x="8138160" y="3977640"/>
            <a:ext cx="3474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"/>
          <p:cNvSpPr txBox="1"/>
          <p:nvPr/>
        </p:nvSpPr>
        <p:spPr>
          <a:xfrm>
            <a:off x="8321040" y="416052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00A878"/>
                </a:solidFill>
              </a:rPr>
              <a:t>۰٫۹۶</a:t>
            </a:r>
            <a:endParaRPr lang="en-US" sz="4000" dirty="0"/>
          </a:p>
        </p:txBody>
      </p:sp>
      <p:sp>
        <p:nvSpPr>
          <p:cNvPr id="14" name="stat label"/>
          <p:cNvSpPr txBox="1"/>
          <p:nvPr/>
        </p:nvSpPr>
        <p:spPr>
          <a:xfrm>
            <a:off x="8366760" y="5074920"/>
            <a:ext cx="301752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 err="1">
                <a:solidFill>
                  <a:schemeClr val="tx1"/>
                </a:solidFill>
                <a:cs typeface="B Nazanin" panose="00000400000000000000" pitchFamily="2" charset="-78"/>
              </a:rPr>
              <a:t>همبستگی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Reviews</a:t>
            </a:r>
            <a:r>
              <a:rPr lang="fa-IR" sz="1400" dirty="0"/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و </a:t>
            </a:r>
            <a:r>
              <a:rPr lang="en-US" sz="1400" dirty="0" smtClean="0">
                <a:solidFill>
                  <a:schemeClr val="tx1"/>
                </a:solidFill>
              </a:rPr>
              <a:t>Installs</a:t>
            </a:r>
            <a:endParaRPr lang="en-US" sz="1400" dirty="0"/>
          </a:p>
        </p:txBody>
      </p:sp>
      <p:sp>
        <p:nvSpPr>
          <p:cNvPr id="15" name="stat card"/>
          <p:cNvSpPr/>
          <p:nvPr/>
        </p:nvSpPr>
        <p:spPr>
          <a:xfrm>
            <a:off x="4343400" y="3977640"/>
            <a:ext cx="3474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value"/>
          <p:cNvSpPr txBox="1"/>
          <p:nvPr/>
        </p:nvSpPr>
        <p:spPr>
          <a:xfrm>
            <a:off x="4526280" y="416052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8E6C8A"/>
                </a:solidFill>
                <a:cs typeface="B Nazanin" panose="00000400000000000000" pitchFamily="2" charset="-78"/>
              </a:rPr>
              <a:t>ضعیف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17" name="stat label"/>
          <p:cNvSpPr txBox="1"/>
          <p:nvPr/>
        </p:nvSpPr>
        <p:spPr>
          <a:xfrm>
            <a:off x="4572000" y="5074920"/>
            <a:ext cx="301752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 err="1">
                <a:solidFill>
                  <a:schemeClr val="tx1"/>
                </a:solidFill>
              </a:rPr>
              <a:t>همبستگی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smtClean="0">
                <a:solidFill>
                  <a:schemeClr val="tx1"/>
                </a:solidFill>
              </a:rPr>
              <a:t>Reviews</a:t>
            </a:r>
            <a:r>
              <a:rPr lang="fa-IR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با Rating</a:t>
            </a:r>
            <a:endParaRPr lang="en-US" sz="1600" dirty="0"/>
          </a:p>
        </p:txBody>
      </p:sp>
      <p:sp>
        <p:nvSpPr>
          <p:cNvPr id="18" name="stat card"/>
          <p:cNvSpPr/>
          <p:nvPr/>
        </p:nvSpPr>
        <p:spPr>
          <a:xfrm>
            <a:off x="548640" y="3977640"/>
            <a:ext cx="34747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t value"/>
          <p:cNvSpPr txBox="1"/>
          <p:nvPr/>
        </p:nvSpPr>
        <p:spPr>
          <a:xfrm>
            <a:off x="731520" y="416052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F2A541"/>
                </a:solidFill>
              </a:rPr>
              <a:t>$۲٫۹۹</a:t>
            </a:r>
            <a:endParaRPr lang="en-US" sz="4000" dirty="0"/>
          </a:p>
        </p:txBody>
      </p:sp>
      <p:sp>
        <p:nvSpPr>
          <p:cNvPr id="20" name="stat label"/>
          <p:cNvSpPr txBox="1"/>
          <p:nvPr/>
        </p:nvSpPr>
        <p:spPr>
          <a:xfrm>
            <a:off x="777240" y="5074920"/>
            <a:ext cx="301752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chemeClr val="tx1"/>
                </a:solidFill>
                <a:cs typeface="B Nazanin" panose="00000400000000000000" pitchFamily="2" charset="-78"/>
              </a:rPr>
              <a:t>میانه‌ی قیمت پولی‌ها؛ میانگین ۱۴٫۰۶$ به‌خاطر چند اپ گران بالاست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احساس کاربران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587342396"/>
              </p:ext>
            </p:extLst>
          </p:nvPr>
        </p:nvGraphicFramePr>
        <p:xfrm>
          <a:off x="548640" y="146304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 card"/>
          <p:cNvSpPr/>
          <p:nvPr/>
        </p:nvSpPr>
        <p:spPr>
          <a:xfrm>
            <a:off x="6583680" y="1554480"/>
            <a:ext cx="5029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value"/>
          <p:cNvSpPr txBox="1"/>
          <p:nvPr/>
        </p:nvSpPr>
        <p:spPr>
          <a:xfrm>
            <a:off x="6766560" y="1737360"/>
            <a:ext cx="46634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chemeClr val="accent1"/>
                </a:solidFill>
              </a:rPr>
              <a:t>۷۲۶</a:t>
            </a:r>
            <a:endParaRPr lang="en-US" sz="4400" dirty="0"/>
          </a:p>
        </p:txBody>
      </p:sp>
      <p:sp>
        <p:nvSpPr>
          <p:cNvPr id="6" name="stat label"/>
          <p:cNvSpPr txBox="1"/>
          <p:nvPr/>
        </p:nvSpPr>
        <p:spPr>
          <a:xfrm>
            <a:off x="6812280" y="2514600"/>
            <a:ext cx="457200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fa-IR" dirty="0" smtClean="0">
                <a:solidFill>
                  <a:schemeClr val="tx1"/>
                </a:solidFill>
                <a:cs typeface="B Nazanin" panose="00000400000000000000" pitchFamily="2" charset="-78"/>
              </a:rPr>
              <a:t>تعداد </a:t>
            </a:r>
            <a:r>
              <a:rPr lang="en-US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اپ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با بیش </a:t>
            </a:r>
            <a:r>
              <a:rPr lang="en-US" dirty="0" err="1">
                <a:solidFill>
                  <a:schemeClr val="tx1"/>
                </a:solidFill>
                <a:cs typeface="B Nazanin" panose="00000400000000000000" pitchFamily="2" charset="-78"/>
              </a:rPr>
              <a:t>از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۱۰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cs typeface="B Nazanin" panose="00000400000000000000" pitchFamily="2" charset="-78"/>
              </a:rPr>
              <a:t>نظر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7" name="stat card"/>
          <p:cNvSpPr/>
          <p:nvPr/>
        </p:nvSpPr>
        <p:spPr>
          <a:xfrm>
            <a:off x="6583680" y="3749040"/>
            <a:ext cx="50292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value"/>
          <p:cNvSpPr txBox="1"/>
          <p:nvPr/>
        </p:nvSpPr>
        <p:spPr>
          <a:xfrm>
            <a:off x="6766560" y="3931920"/>
            <a:ext cx="46634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chemeClr val="accent2"/>
                </a:solidFill>
              </a:rPr>
              <a:t>۰٫۳۲</a:t>
            </a:r>
            <a:endParaRPr lang="en-US" sz="4400" dirty="0"/>
          </a:p>
        </p:txBody>
      </p:sp>
      <p:sp>
        <p:nvSpPr>
          <p:cNvPr id="9" name="stat label"/>
          <p:cNvSpPr txBox="1"/>
          <p:nvPr/>
        </p:nvSpPr>
        <p:spPr>
          <a:xfrm>
            <a:off x="6812280" y="4709160"/>
            <a:ext cx="457200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sz="1600" dirty="0">
                <a:solidFill>
                  <a:schemeClr val="tx1"/>
                </a:solidFill>
              </a:rPr>
              <a:t>همبستگی میانگین احساس نظرات با </a:t>
            </a:r>
            <a:r>
              <a:rPr lang="en-US" sz="1600" dirty="0" err="1">
                <a:solidFill>
                  <a:schemeClr val="tx1"/>
                </a:solidFill>
              </a:rPr>
              <a:t>امتیاز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</a:rPr>
              <a:t>رسمی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محدودیت‌ها و گام بعدی</a:t>
            </a:r>
            <a:endParaRPr lang="en-US" sz="3600" dirty="0"/>
          </a:p>
        </p:txBody>
      </p:sp>
      <p:sp>
        <p:nvSpPr>
          <p:cNvPr id="3" name="column card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9224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E4572E"/>
                </a:solidFill>
              </a:rPr>
              <a:t>محدودیت‌ها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24231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رایگان و پولی بدون آزمون آماری مقایسه شده‌اند.</a:t>
            </a:r>
            <a:endParaRPr lang="en-US" sz="18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اپ‌های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۵</a:t>
            </a:r>
            <a:r>
              <a:rPr lang="fa-IR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ستاره بدون حداقل تعداد نظر گمراه‌کننده‌اند.</a:t>
            </a:r>
            <a:endParaRPr lang="en-US" sz="18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تحلیل احساس فقط </a:t>
            </a:r>
            <a:r>
              <a:rPr lang="en-US" sz="1800" dirty="0" err="1">
                <a:solidFill>
                  <a:schemeClr val="tx1"/>
                </a:solidFill>
              </a:rPr>
              <a:t>روی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۷۲۶</a:t>
            </a:r>
            <a:r>
              <a:rPr lang="fa-IR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اپ ممکن بود.</a:t>
            </a:r>
            <a:endParaRPr lang="en-US" sz="1800" dirty="0"/>
          </a:p>
          <a:p>
            <a:pPr algn="r" rtl="1">
              <a:spcAft>
                <a:spcPts val="1000"/>
              </a:spcAft>
              <a:buSzPct val="100000"/>
            </a:pPr>
            <a:endParaRPr lang="en-US" sz="1800" dirty="0"/>
          </a:p>
        </p:txBody>
      </p:sp>
      <p:sp>
        <p:nvSpPr>
          <p:cNvPr id="6" name="column card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0A878"/>
                </a:solidFill>
              </a:rPr>
              <a:t>گام‌های بعدی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فیلتر حداقل ۱۰۰ نظر برای امتیازها.</a:t>
            </a:r>
            <a:endParaRPr lang="en-US" sz="18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آزمون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Mann-Whitney</a:t>
            </a:r>
            <a:r>
              <a:rPr lang="fa-IR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برای رایگان و پولی.</a:t>
            </a:r>
            <a:endParaRPr lang="en-US" sz="18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ترکیب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Rating</a:t>
            </a:r>
            <a:r>
              <a:rPr lang="fa-IR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با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Installs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chemeClr val="bg1"/>
                </a:solidFill>
                <a:cs typeface="B Nazanin" panose="00000400000000000000" pitchFamily="2" charset="-78"/>
              </a:rPr>
              <a:t>نتیجه‌گیری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3" name="takeaway circle"/>
          <p:cNvSpPr/>
          <p:nvPr/>
        </p:nvSpPr>
        <p:spPr>
          <a:xfrm>
            <a:off x="9464040" y="1737360"/>
            <a:ext cx="822960" cy="82296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640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800" b="1" dirty="0">
                <a:solidFill>
                  <a:schemeClr val="tx2"/>
                </a:solidFill>
              </a:rPr>
              <a:t>۱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2834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chemeClr val="bg1"/>
                </a:solidFill>
              </a:rPr>
              <a:t>کیفیت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3474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dirty="0">
                <a:solidFill>
                  <a:srgbClr val="CFE3DF"/>
                </a:solidFill>
                <a:cs typeface="B Nazanin" panose="00000400000000000000" pitchFamily="2" charset="-78"/>
              </a:rPr>
              <a:t>امتیازها بالا و چوله به چپ‌اند؛ میانگین ۴٫۱۷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7" name="takeaway circle"/>
          <p:cNvSpPr/>
          <p:nvPr/>
        </p:nvSpPr>
        <p:spPr>
          <a:xfrm>
            <a:off x="5669280" y="173736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800" b="1" dirty="0">
                <a:solidFill>
                  <a:schemeClr val="tx2"/>
                </a:solidFill>
              </a:rPr>
              <a:t>۲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834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chemeClr val="bg1"/>
                </a:solidFill>
              </a:rPr>
              <a:t>بازار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474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dirty="0">
                <a:solidFill>
                  <a:srgbClr val="CFE3DF"/>
                </a:solidFill>
                <a:cs typeface="B Nazanin" panose="00000400000000000000" pitchFamily="2" charset="-78"/>
              </a:rPr>
              <a:t>Family </a:t>
            </a:r>
            <a:r>
              <a:rPr lang="fa-IR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rgbClr val="CFE3DF"/>
                </a:solidFill>
                <a:cs typeface="B Nazanin" panose="00000400000000000000" pitchFamily="2" charset="-78"/>
              </a:rPr>
              <a:t>و</a:t>
            </a:r>
            <a:r>
              <a:rPr lang="fa-IR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rgbClr val="CFE3DF"/>
                </a:solidFill>
                <a:cs typeface="B Nazanin" panose="00000400000000000000" pitchFamily="2" charset="-78"/>
              </a:rPr>
              <a:t>Game</a:t>
            </a:r>
            <a:r>
              <a:rPr lang="fa-IR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dirty="0" err="1" smtClean="0">
                <a:solidFill>
                  <a:srgbClr val="CFE3DF"/>
                </a:solidFill>
                <a:cs typeface="B Nazanin" panose="00000400000000000000" pitchFamily="2" charset="-78"/>
              </a:rPr>
              <a:t>وTools</a:t>
            </a:r>
            <a:r>
              <a:rPr lang="en-US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fa-IR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dirty="0" err="1" smtClean="0">
                <a:solidFill>
                  <a:srgbClr val="CFE3DF"/>
                </a:solidFill>
                <a:cs typeface="B Nazanin" panose="00000400000000000000" pitchFamily="2" charset="-78"/>
              </a:rPr>
              <a:t>بیشترین</a:t>
            </a:r>
            <a:r>
              <a:rPr lang="en-US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rgbClr val="CFE3DF"/>
                </a:solidFill>
                <a:cs typeface="B Nazanin" panose="00000400000000000000" pitchFamily="2" charset="-78"/>
              </a:rPr>
              <a:t>اپ </a:t>
            </a:r>
            <a:r>
              <a:rPr lang="en-US" dirty="0" err="1">
                <a:solidFill>
                  <a:srgbClr val="CFE3DF"/>
                </a:solidFill>
                <a:cs typeface="B Nazanin" panose="00000400000000000000" pitchFamily="2" charset="-78"/>
              </a:rPr>
              <a:t>را</a:t>
            </a:r>
            <a:r>
              <a:rPr lang="en-US" dirty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dirty="0" err="1" smtClean="0">
                <a:solidFill>
                  <a:srgbClr val="CFE3DF"/>
                </a:solidFill>
                <a:cs typeface="B Nazanin" panose="00000400000000000000" pitchFamily="2" charset="-78"/>
              </a:rPr>
              <a:t>دارند</a:t>
            </a:r>
            <a:r>
              <a:rPr lang="en-US" dirty="0" smtClean="0">
                <a:solidFill>
                  <a:srgbClr val="CFE3DF"/>
                </a:solidFill>
                <a:cs typeface="B Nazanin" panose="00000400000000000000" pitchFamily="2" charset="-78"/>
              </a:rPr>
              <a:t>؛</a:t>
            </a:r>
            <a:r>
              <a:rPr lang="fa-IR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dirty="0" smtClean="0">
                <a:solidFill>
                  <a:srgbClr val="CFE3DF"/>
                </a:solidFill>
                <a:cs typeface="B Nazanin" panose="00000400000000000000" pitchFamily="2" charset="-78"/>
              </a:rPr>
              <a:t>Meta</a:t>
            </a:r>
            <a:r>
              <a:rPr lang="fa-IR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dirty="0" err="1" smtClean="0">
                <a:solidFill>
                  <a:srgbClr val="CFE3DF"/>
                </a:solidFill>
                <a:cs typeface="B Nazanin" panose="00000400000000000000" pitchFamily="2" charset="-78"/>
              </a:rPr>
              <a:t>در</a:t>
            </a:r>
            <a:r>
              <a:rPr lang="en-US" dirty="0" smtClean="0">
                <a:solidFill>
                  <a:srgbClr val="CFE3DF"/>
                </a:solidFill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rgbClr val="CFE3DF"/>
                </a:solidFill>
                <a:cs typeface="B Nazanin" panose="00000400000000000000" pitchFamily="2" charset="-78"/>
              </a:rPr>
              <a:t>تعامل پیشتاز است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1" name="takeaway circle"/>
          <p:cNvSpPr/>
          <p:nvPr/>
        </p:nvSpPr>
        <p:spPr>
          <a:xfrm>
            <a:off x="1874520" y="1737360"/>
            <a:ext cx="822960" cy="8229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745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800" b="1" dirty="0">
                <a:solidFill>
                  <a:schemeClr val="tx2"/>
                </a:solidFill>
              </a:rPr>
              <a:t>۳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34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قیمت‌گذاری</a:t>
            </a:r>
            <a:endParaRPr lang="en-US" sz="2400" dirty="0">
              <a:cs typeface="B Nazanin" panose="00000400000000000000" pitchFamily="2" charset="-78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en-US" dirty="0">
                <a:solidFill>
                  <a:srgbClr val="CFE3DF"/>
                </a:solidFill>
                <a:cs typeface="B Nazanin" panose="00000400000000000000" pitchFamily="2" charset="-78"/>
              </a:rPr>
              <a:t>پولی‌ها کمی امتیاز بهتر ولی نصب بسیار کم‌تری دارند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sz="1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*</a:t>
            </a:r>
            <a:r>
              <a:rPr lang="en-US" sz="1800" dirty="0" err="1" smtClean="0">
                <a:solidFill>
                  <a:schemeClr val="bg1"/>
                </a:solidFill>
                <a:cs typeface="B Nazanin" panose="00000400000000000000" pitchFamily="2" charset="-78"/>
              </a:rPr>
              <a:t>برای</a:t>
            </a:r>
            <a:r>
              <a:rPr lang="en-US" sz="1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1800" dirty="0" err="1">
                <a:solidFill>
                  <a:schemeClr val="bg1"/>
                </a:solidFill>
                <a:cs typeface="B Nazanin" panose="00000400000000000000" pitchFamily="2" charset="-78"/>
              </a:rPr>
              <a:t>نتیجه‌ی</a:t>
            </a: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  <a:cs typeface="B Nazanin" panose="00000400000000000000" pitchFamily="2" charset="-78"/>
              </a:rPr>
              <a:t>قوی‌تر</a:t>
            </a:r>
            <a:r>
              <a:rPr lang="fa-IR" sz="1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1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:</a:t>
            </a:r>
            <a:r>
              <a:rPr lang="fa-IR" sz="1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  <a:cs typeface="B Nazanin" panose="00000400000000000000" pitchFamily="2" charset="-78"/>
              </a:rPr>
              <a:t>آزمون</a:t>
            </a:r>
            <a:r>
              <a:rPr lang="en-US" sz="1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  <a:cs typeface="B Nazanin" panose="00000400000000000000" pitchFamily="2" charset="-78"/>
              </a:rPr>
              <a:t>آماری</a:t>
            </a:r>
            <a:r>
              <a:rPr lang="fa-IR" sz="1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1800" dirty="0" smtClean="0">
                <a:solidFill>
                  <a:schemeClr val="bg1"/>
                </a:solidFill>
                <a:cs typeface="B Nazanin" panose="00000400000000000000" pitchFamily="2" charset="-78"/>
              </a:rPr>
              <a:t>، </a:t>
            </a: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فیلتر حداقل نظر و ترکیب با تحلیل احساس کاربران.</a:t>
            </a:r>
            <a:endParaRPr lang="en-US" sz="18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ayStore">
  <a:themeElements>
    <a:clrScheme name="PlayStore">
      <a:dk1>
        <a:srgbClr val="1B2A2F"/>
      </a:dk1>
      <a:lt1>
        <a:srgbClr val="FFFFFF"/>
      </a:lt1>
      <a:dk2>
        <a:srgbClr val="0B3C49"/>
      </a:dk2>
      <a:lt2>
        <a:srgbClr val="EAF4F2"/>
      </a:lt2>
      <a:accent1>
        <a:srgbClr val="00A878"/>
      </a:accent1>
      <a:accent2>
        <a:srgbClr val="F2A541"/>
      </a:accent2>
      <a:accent3>
        <a:srgbClr val="E4572E"/>
      </a:accent3>
      <a:accent4>
        <a:srgbClr val="5B8E7D"/>
      </a:accent4>
      <a:accent5>
        <a:srgbClr val="7A9CC6"/>
      </a:accent5>
      <a:accent6>
        <a:srgbClr val="8E6C8A"/>
      </a:accent6>
      <a:hlink>
        <a:srgbClr val="0B3C49"/>
      </a:hlink>
      <a:folHlink>
        <a:srgbClr val="5B8E7D"/>
      </a:folHlink>
    </a:clrScheme>
    <a:fontScheme name="PlaySto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560</Words>
  <Application>Microsoft Office PowerPoint</Application>
  <PresentationFormat>Widescreen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Andalus</vt:lpstr>
      <vt:lpstr>Arial</vt:lpstr>
      <vt:lpstr>B Nazanin</vt:lpstr>
      <vt:lpstr>Calibri</vt:lpstr>
      <vt:lpstr>PlayStore</vt:lpstr>
      <vt:lpstr>PowerPoint Presentation</vt:lpstr>
      <vt:lpstr>خلاصه‌ی یافته‌ها</vt:lpstr>
      <vt:lpstr>پاک‌سازی داده</vt:lpstr>
      <vt:lpstr>توزیع امتیازها</vt:lpstr>
      <vt:lpstr>سهم دسته‌ها</vt:lpstr>
      <vt:lpstr>اپ‌ های پرتعامل</vt:lpstr>
      <vt:lpstr>رایگان یا پولی؟</vt:lpstr>
      <vt:lpstr>الگوهای دیگر</vt:lpstr>
      <vt:lpstr>احساس کاربران</vt:lpstr>
      <vt:lpstr>محدودیت‌ها و گام بعدی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تحلیل دیتاست Google Play Store</dc:title>
  <dc:subject>PptxGenJS Presentation</dc:subject>
  <dc:creator>PptxGenJS</dc:creator>
  <cp:lastModifiedBy>pisho</cp:lastModifiedBy>
  <cp:revision>9</cp:revision>
  <dcterms:created xsi:type="dcterms:W3CDTF">2026-10-10T19:14:06Z</dcterms:created>
  <dcterms:modified xsi:type="dcterms:W3CDTF">2026-10-14T11:46:39Z</dcterms:modified>
</cp:coreProperties>
</file>